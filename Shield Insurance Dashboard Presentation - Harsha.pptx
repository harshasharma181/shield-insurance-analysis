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9" r:id="rId11"/>
    <p:sldId id="270" r:id="rId12"/>
    <p:sldId id="271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a sharma" userId="906c7d3cfcd183f5" providerId="LiveId" clId="{28252CB6-F47B-4BC8-B8F7-993A841A9075}"/>
    <pc:docChg chg="custSel modSld">
      <pc:chgData name="harsha sharma" userId="906c7d3cfcd183f5" providerId="LiveId" clId="{28252CB6-F47B-4BC8-B8F7-993A841A9075}" dt="2026-09-21T12:02:33.427" v="16" actId="478"/>
      <pc:docMkLst>
        <pc:docMk/>
      </pc:docMkLst>
      <pc:sldChg chg="delSp mod delAnim">
        <pc:chgData name="harsha sharma" userId="906c7d3cfcd183f5" providerId="LiveId" clId="{28252CB6-F47B-4BC8-B8F7-993A841A9075}" dt="2026-09-21T12:01:17.438" v="0" actId="478"/>
        <pc:sldMkLst>
          <pc:docMk/>
          <pc:sldMk cId="2886006472" sldId="256"/>
        </pc:sldMkLst>
        <pc:picChg chg="del">
          <ac:chgData name="harsha sharma" userId="906c7d3cfcd183f5" providerId="LiveId" clId="{28252CB6-F47B-4BC8-B8F7-993A841A9075}" dt="2026-09-21T12:01:17.438" v="0" actId="478"/>
          <ac:picMkLst>
            <pc:docMk/>
            <pc:sldMk cId="2886006472" sldId="256"/>
            <ac:picMk id="12" creationId="{2F7F2CDA-44A3-BAA0-DA81-B1E3E5A21609}"/>
          </ac:picMkLst>
        </pc:picChg>
      </pc:sldChg>
      <pc:sldChg chg="delSp mod delAnim">
        <pc:chgData name="harsha sharma" userId="906c7d3cfcd183f5" providerId="LiveId" clId="{28252CB6-F47B-4BC8-B8F7-993A841A9075}" dt="2026-09-21T12:01:19.617" v="1" actId="478"/>
        <pc:sldMkLst>
          <pc:docMk/>
          <pc:sldMk cId="3901346837" sldId="257"/>
        </pc:sldMkLst>
        <pc:picChg chg="del">
          <ac:chgData name="harsha sharma" userId="906c7d3cfcd183f5" providerId="LiveId" clId="{28252CB6-F47B-4BC8-B8F7-993A841A9075}" dt="2026-09-21T12:01:19.617" v="1" actId="478"/>
          <ac:picMkLst>
            <pc:docMk/>
            <pc:sldMk cId="3901346837" sldId="257"/>
            <ac:picMk id="11" creationId="{99FD6367-D5DC-CABF-5310-177BB543D502}"/>
          </ac:picMkLst>
        </pc:picChg>
      </pc:sldChg>
      <pc:sldChg chg="delSp mod delAnim">
        <pc:chgData name="harsha sharma" userId="906c7d3cfcd183f5" providerId="LiveId" clId="{28252CB6-F47B-4BC8-B8F7-993A841A9075}" dt="2026-09-21T12:01:21.585" v="2" actId="478"/>
        <pc:sldMkLst>
          <pc:docMk/>
          <pc:sldMk cId="2798138338" sldId="258"/>
        </pc:sldMkLst>
        <pc:picChg chg="del">
          <ac:chgData name="harsha sharma" userId="906c7d3cfcd183f5" providerId="LiveId" clId="{28252CB6-F47B-4BC8-B8F7-993A841A9075}" dt="2026-09-21T12:01:21.585" v="2" actId="478"/>
          <ac:picMkLst>
            <pc:docMk/>
            <pc:sldMk cId="2798138338" sldId="258"/>
            <ac:picMk id="9" creationId="{1900274D-7B20-9E00-B508-8DBF3D850EDD}"/>
          </ac:picMkLst>
        </pc:picChg>
      </pc:sldChg>
      <pc:sldChg chg="delSp mod delAnim">
        <pc:chgData name="harsha sharma" userId="906c7d3cfcd183f5" providerId="LiveId" clId="{28252CB6-F47B-4BC8-B8F7-993A841A9075}" dt="2026-09-21T12:01:23.504" v="3" actId="478"/>
        <pc:sldMkLst>
          <pc:docMk/>
          <pc:sldMk cId="4069933829" sldId="259"/>
        </pc:sldMkLst>
        <pc:picChg chg="del">
          <ac:chgData name="harsha sharma" userId="906c7d3cfcd183f5" providerId="LiveId" clId="{28252CB6-F47B-4BC8-B8F7-993A841A9075}" dt="2026-09-21T12:01:23.504" v="3" actId="478"/>
          <ac:picMkLst>
            <pc:docMk/>
            <pc:sldMk cId="4069933829" sldId="259"/>
            <ac:picMk id="9" creationId="{4332773F-273E-AD2A-66BD-CCC6760B5E62}"/>
          </ac:picMkLst>
        </pc:picChg>
      </pc:sldChg>
      <pc:sldChg chg="delSp mod delAnim">
        <pc:chgData name="harsha sharma" userId="906c7d3cfcd183f5" providerId="LiveId" clId="{28252CB6-F47B-4BC8-B8F7-993A841A9075}" dt="2026-09-21T12:01:25.459" v="4" actId="478"/>
        <pc:sldMkLst>
          <pc:docMk/>
          <pc:sldMk cId="263138822" sldId="260"/>
        </pc:sldMkLst>
        <pc:picChg chg="del">
          <ac:chgData name="harsha sharma" userId="906c7d3cfcd183f5" providerId="LiveId" clId="{28252CB6-F47B-4BC8-B8F7-993A841A9075}" dt="2026-09-21T12:01:25.459" v="4" actId="478"/>
          <ac:picMkLst>
            <pc:docMk/>
            <pc:sldMk cId="263138822" sldId="260"/>
            <ac:picMk id="9" creationId="{F1993176-5F8F-3EBA-0F28-EDC6D72EC879}"/>
          </ac:picMkLst>
        </pc:picChg>
      </pc:sldChg>
      <pc:sldChg chg="delSp mod delAnim">
        <pc:chgData name="harsha sharma" userId="906c7d3cfcd183f5" providerId="LiveId" clId="{28252CB6-F47B-4BC8-B8F7-993A841A9075}" dt="2026-09-21T12:01:27.967" v="5" actId="478"/>
        <pc:sldMkLst>
          <pc:docMk/>
          <pc:sldMk cId="2750771603" sldId="261"/>
        </pc:sldMkLst>
        <pc:picChg chg="del">
          <ac:chgData name="harsha sharma" userId="906c7d3cfcd183f5" providerId="LiveId" clId="{28252CB6-F47B-4BC8-B8F7-993A841A9075}" dt="2026-09-21T12:01:27.967" v="5" actId="478"/>
          <ac:picMkLst>
            <pc:docMk/>
            <pc:sldMk cId="2750771603" sldId="261"/>
            <ac:picMk id="11" creationId="{23351D40-C229-76CE-E5DA-347253CEE78D}"/>
          </ac:picMkLst>
        </pc:picChg>
      </pc:sldChg>
      <pc:sldChg chg="delSp mod delAnim">
        <pc:chgData name="harsha sharma" userId="906c7d3cfcd183f5" providerId="LiveId" clId="{28252CB6-F47B-4BC8-B8F7-993A841A9075}" dt="2026-09-21T12:01:32.731" v="6" actId="478"/>
        <pc:sldMkLst>
          <pc:docMk/>
          <pc:sldMk cId="3710899349" sldId="262"/>
        </pc:sldMkLst>
        <pc:picChg chg="del">
          <ac:chgData name="harsha sharma" userId="906c7d3cfcd183f5" providerId="LiveId" clId="{28252CB6-F47B-4BC8-B8F7-993A841A9075}" dt="2026-09-21T12:01:32.731" v="6" actId="478"/>
          <ac:picMkLst>
            <pc:docMk/>
            <pc:sldMk cId="3710899349" sldId="262"/>
            <ac:picMk id="15" creationId="{26E82433-837C-0363-18BD-6AB8AA93816C}"/>
          </ac:picMkLst>
        </pc:picChg>
      </pc:sldChg>
      <pc:sldChg chg="delSp mod delAnim">
        <pc:chgData name="harsha sharma" userId="906c7d3cfcd183f5" providerId="LiveId" clId="{28252CB6-F47B-4BC8-B8F7-993A841A9075}" dt="2026-09-21T12:01:49.439" v="8" actId="478"/>
        <pc:sldMkLst>
          <pc:docMk/>
          <pc:sldMk cId="3003839175" sldId="263"/>
        </pc:sldMkLst>
        <pc:picChg chg="del">
          <ac:chgData name="harsha sharma" userId="906c7d3cfcd183f5" providerId="LiveId" clId="{28252CB6-F47B-4BC8-B8F7-993A841A9075}" dt="2026-09-21T12:01:49.439" v="8" actId="478"/>
          <ac:picMkLst>
            <pc:docMk/>
            <pc:sldMk cId="3003839175" sldId="263"/>
            <ac:picMk id="8" creationId="{8A9FD873-7162-6AEB-6DFC-592C386A5B94}"/>
          </ac:picMkLst>
        </pc:picChg>
      </pc:sldChg>
      <pc:sldChg chg="delSp mod delAnim">
        <pc:chgData name="harsha sharma" userId="906c7d3cfcd183f5" providerId="LiveId" clId="{28252CB6-F47B-4BC8-B8F7-993A841A9075}" dt="2026-09-21T12:02:21.206" v="12" actId="478"/>
        <pc:sldMkLst>
          <pc:docMk/>
          <pc:sldMk cId="510174907" sldId="264"/>
        </pc:sldMkLst>
        <pc:picChg chg="del">
          <ac:chgData name="harsha sharma" userId="906c7d3cfcd183f5" providerId="LiveId" clId="{28252CB6-F47B-4BC8-B8F7-993A841A9075}" dt="2026-09-21T12:02:21.206" v="12" actId="478"/>
          <ac:picMkLst>
            <pc:docMk/>
            <pc:sldMk cId="510174907" sldId="264"/>
            <ac:picMk id="9" creationId="{4A3068DB-C120-60B0-6FE1-4842BAC36937}"/>
          </ac:picMkLst>
        </pc:picChg>
      </pc:sldChg>
      <pc:sldChg chg="delSp mod delAnim">
        <pc:chgData name="harsha sharma" userId="906c7d3cfcd183f5" providerId="LiveId" clId="{28252CB6-F47B-4BC8-B8F7-993A841A9075}" dt="2026-09-21T12:02:23.956" v="13" actId="478"/>
        <pc:sldMkLst>
          <pc:docMk/>
          <pc:sldMk cId="273070748" sldId="265"/>
        </pc:sldMkLst>
        <pc:picChg chg="del">
          <ac:chgData name="harsha sharma" userId="906c7d3cfcd183f5" providerId="LiveId" clId="{28252CB6-F47B-4BC8-B8F7-993A841A9075}" dt="2026-09-21T12:02:23.956" v="13" actId="478"/>
          <ac:picMkLst>
            <pc:docMk/>
            <pc:sldMk cId="273070748" sldId="265"/>
            <ac:picMk id="5" creationId="{5FDF631B-209F-CE73-4A49-424E725D3605}"/>
          </ac:picMkLst>
        </pc:picChg>
      </pc:sldChg>
      <pc:sldChg chg="delSp mod delAnim">
        <pc:chgData name="harsha sharma" userId="906c7d3cfcd183f5" providerId="LiveId" clId="{28252CB6-F47B-4BC8-B8F7-993A841A9075}" dt="2026-09-21T12:02:26.811" v="14" actId="478"/>
        <pc:sldMkLst>
          <pc:docMk/>
          <pc:sldMk cId="1519396120" sldId="266"/>
        </pc:sldMkLst>
        <pc:picChg chg="del">
          <ac:chgData name="harsha sharma" userId="906c7d3cfcd183f5" providerId="LiveId" clId="{28252CB6-F47B-4BC8-B8F7-993A841A9075}" dt="2026-09-21T12:02:26.811" v="14" actId="478"/>
          <ac:picMkLst>
            <pc:docMk/>
            <pc:sldMk cId="1519396120" sldId="266"/>
            <ac:picMk id="7" creationId="{FDEF09E0-8B8A-D946-9840-E420A37CD113}"/>
          </ac:picMkLst>
        </pc:picChg>
      </pc:sldChg>
      <pc:sldChg chg="delSp mod delAnim">
        <pc:chgData name="harsha sharma" userId="906c7d3cfcd183f5" providerId="LiveId" clId="{28252CB6-F47B-4BC8-B8F7-993A841A9075}" dt="2026-09-21T12:02:29.956" v="15" actId="478"/>
        <pc:sldMkLst>
          <pc:docMk/>
          <pc:sldMk cId="1260204146" sldId="267"/>
        </pc:sldMkLst>
        <pc:picChg chg="del">
          <ac:chgData name="harsha sharma" userId="906c7d3cfcd183f5" providerId="LiveId" clId="{28252CB6-F47B-4BC8-B8F7-993A841A9075}" dt="2026-09-21T12:02:29.956" v="15" actId="478"/>
          <ac:picMkLst>
            <pc:docMk/>
            <pc:sldMk cId="1260204146" sldId="267"/>
            <ac:picMk id="11" creationId="{B1784543-741F-3073-473F-54B4E6BA36D7}"/>
          </ac:picMkLst>
        </pc:picChg>
      </pc:sldChg>
      <pc:sldChg chg="delSp mod delAnim">
        <pc:chgData name="harsha sharma" userId="906c7d3cfcd183f5" providerId="LiveId" clId="{28252CB6-F47B-4BC8-B8F7-993A841A9075}" dt="2026-09-21T12:02:33.427" v="16" actId="478"/>
        <pc:sldMkLst>
          <pc:docMk/>
          <pc:sldMk cId="1421013694" sldId="268"/>
        </pc:sldMkLst>
        <pc:picChg chg="del">
          <ac:chgData name="harsha sharma" userId="906c7d3cfcd183f5" providerId="LiveId" clId="{28252CB6-F47B-4BC8-B8F7-993A841A9075}" dt="2026-09-21T12:02:33.427" v="16" actId="478"/>
          <ac:picMkLst>
            <pc:docMk/>
            <pc:sldMk cId="1421013694" sldId="268"/>
            <ac:picMk id="2" creationId="{F816BE8B-5E6C-3DA6-96F1-F3C045DE032D}"/>
          </ac:picMkLst>
        </pc:picChg>
      </pc:sldChg>
      <pc:sldChg chg="delSp mod delAnim">
        <pc:chgData name="harsha sharma" userId="906c7d3cfcd183f5" providerId="LiveId" clId="{28252CB6-F47B-4BC8-B8F7-993A841A9075}" dt="2026-09-21T12:02:13.880" v="9" actId="478"/>
        <pc:sldMkLst>
          <pc:docMk/>
          <pc:sldMk cId="3495700762" sldId="269"/>
        </pc:sldMkLst>
        <pc:picChg chg="del">
          <ac:chgData name="harsha sharma" userId="906c7d3cfcd183f5" providerId="LiveId" clId="{28252CB6-F47B-4BC8-B8F7-993A841A9075}" dt="2026-09-21T12:02:13.880" v="9" actId="478"/>
          <ac:picMkLst>
            <pc:docMk/>
            <pc:sldMk cId="3495700762" sldId="269"/>
            <ac:picMk id="12" creationId="{ADBB023D-2D4E-E653-5D78-4C8C5EDF4FC6}"/>
          </ac:picMkLst>
        </pc:picChg>
      </pc:sldChg>
      <pc:sldChg chg="delSp mod delAnim">
        <pc:chgData name="harsha sharma" userId="906c7d3cfcd183f5" providerId="LiveId" clId="{28252CB6-F47B-4BC8-B8F7-993A841A9075}" dt="2026-09-21T12:02:15.914" v="10" actId="478"/>
        <pc:sldMkLst>
          <pc:docMk/>
          <pc:sldMk cId="1186562801" sldId="270"/>
        </pc:sldMkLst>
        <pc:picChg chg="del">
          <ac:chgData name="harsha sharma" userId="906c7d3cfcd183f5" providerId="LiveId" clId="{28252CB6-F47B-4BC8-B8F7-993A841A9075}" dt="2026-09-21T12:02:15.914" v="10" actId="478"/>
          <ac:picMkLst>
            <pc:docMk/>
            <pc:sldMk cId="1186562801" sldId="270"/>
            <ac:picMk id="14" creationId="{2399A864-4367-EDB1-2D48-98F93A84AA66}"/>
          </ac:picMkLst>
        </pc:picChg>
      </pc:sldChg>
      <pc:sldChg chg="delSp mod delAnim">
        <pc:chgData name="harsha sharma" userId="906c7d3cfcd183f5" providerId="LiveId" clId="{28252CB6-F47B-4BC8-B8F7-993A841A9075}" dt="2026-09-21T12:02:18.069" v="11" actId="478"/>
        <pc:sldMkLst>
          <pc:docMk/>
          <pc:sldMk cId="1158125217" sldId="271"/>
        </pc:sldMkLst>
        <pc:picChg chg="del">
          <ac:chgData name="harsha sharma" userId="906c7d3cfcd183f5" providerId="LiveId" clId="{28252CB6-F47B-4BC8-B8F7-993A841A9075}" dt="2026-09-21T12:02:18.069" v="11" actId="478"/>
          <ac:picMkLst>
            <pc:docMk/>
            <pc:sldMk cId="1158125217" sldId="271"/>
            <ac:picMk id="10" creationId="{66BE62A5-277E-5864-44E0-35C430203730}"/>
          </ac:picMkLst>
        </pc:picChg>
      </pc:sldChg>
      <pc:sldChg chg="delSp mod delAnim">
        <pc:chgData name="harsha sharma" userId="906c7d3cfcd183f5" providerId="LiveId" clId="{28252CB6-F47B-4BC8-B8F7-993A841A9075}" dt="2026-09-21T12:01:46.587" v="7" actId="478"/>
        <pc:sldMkLst>
          <pc:docMk/>
          <pc:sldMk cId="764306416" sldId="272"/>
        </pc:sldMkLst>
        <pc:picChg chg="del">
          <ac:chgData name="harsha sharma" userId="906c7d3cfcd183f5" providerId="LiveId" clId="{28252CB6-F47B-4BC8-B8F7-993A841A9075}" dt="2026-09-21T12:01:46.587" v="7" actId="478"/>
          <ac:picMkLst>
            <pc:docMk/>
            <pc:sldMk cId="764306416" sldId="272"/>
            <ac:picMk id="13" creationId="{278EBD75-68BA-53C4-738D-472CB5B977E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F617C1-1D28-4211-B6AD-4CD0053FB6A1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49665-0D9D-4470-9566-592D847C23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172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C49665-0D9D-4470-9566-592D847C23B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2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137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562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841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05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902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3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050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073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64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79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621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3E0C0-023E-4F1C-AD7E-54E86EE5FB34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08092-367F-4470-8DB8-E267431D4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9242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F2547D9-9C78-EF36-436D-650FBF14B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9305" y="3705732"/>
            <a:ext cx="5206738" cy="12716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Turning insurance data into actionable insights through interactive Power BI dashboards.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2D45D-C729-17B9-E4B3-8737BA46C0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523" y="945530"/>
            <a:ext cx="2966301" cy="2489755"/>
          </a:xfrm>
          <a:prstGeom prst="rect">
            <a:avLst/>
          </a:prstGeom>
        </p:spPr>
      </p:pic>
      <p:pic>
        <p:nvPicPr>
          <p:cNvPr id="1026" name="Picture 2" descr="Insurance policy concept. Vector illustrationt . Vector illustration  15564850 Vector Art at Vecteezy">
            <a:extLst>
              <a:ext uri="{FF2B5EF4-FFF2-40B4-BE49-F238E27FC236}">
                <a16:creationId xmlns:a16="http://schemas.microsoft.com/office/drawing/2014/main" id="{2BDDBACC-58D4-99D3-174F-CED01B1F9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492" y="1448586"/>
            <a:ext cx="3639130" cy="379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EB8088-C8CC-751B-68C9-ED47C1F93C31}"/>
              </a:ext>
            </a:extLst>
          </p:cNvPr>
          <p:cNvSpPr txBox="1"/>
          <p:nvPr/>
        </p:nvSpPr>
        <p:spPr>
          <a:xfrm>
            <a:off x="499621" y="6004875"/>
            <a:ext cx="3019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Presented By Harsha </a:t>
            </a:r>
            <a:r>
              <a:rPr lang="en-US" sz="2000" dirty="0"/>
              <a:t>Sharma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600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670"/>
    </mc:Choice>
    <mc:Fallback xmlns="">
      <p:transition spd="slow" advTm="146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6B54-8250-C59C-3806-4CBC29D3E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7348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AB080-DB0E-DBCF-C2B2-115BD4B08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6260"/>
            <a:ext cx="10515600" cy="4351338"/>
          </a:xfrm>
        </p:spPr>
        <p:txBody>
          <a:bodyPr>
            <a:normAutofit fontScale="70000" lnSpcReduction="2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About Company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Problem Statement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Project Objective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Dataset Overview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Key Terms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Dashboard View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Insights</a:t>
            </a: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1346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640"/>
    </mc:Choice>
    <mc:Fallback xmlns="">
      <p:transition spd="slow" advTm="1364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9846C-59F8-D873-2C47-0AE62F3F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About Company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D4603-9AD6-5938-9677-999A6D11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Shield Insurance provides affordable &amp; customizable insurance solutions tailored to individuals across all age groups.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With a presence in Mumbai, Chennai, Delhi, Hyderabad, Indore.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The company operates through offline agents, direct sales teams, a mobile app, and a website.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13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89"/>
    </mc:Choice>
    <mc:Fallback xmlns="">
      <p:transition spd="slow" advTm="1628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32C1-D1D1-4C7B-4183-A7A74D0F1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sz="4000" dirty="0"/>
              <a:t>Problem Statement</a:t>
            </a:r>
            <a:br>
              <a:rPr lang="en-IN" b="1" u="sng" dirty="0">
                <a:solidFill>
                  <a:srgbClr val="0077B6"/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10D0A-F31A-AFE7-BF1E-8674AF8FC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8033"/>
            <a:ext cx="10515600" cy="4828930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Shield Insurance currently lacks a consolidated &amp; interactive view to effectively monitor customer growth, revenue performance,  policy trends.</a:t>
            </a:r>
          </a:p>
          <a:p>
            <a:pPr marL="285750" indent="-285750">
              <a:lnSpc>
                <a:spcPct val="150000"/>
              </a:lnSpc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Additionally, there is limited visibility into how customer behaviour varies across age groups, cities, sales modes, and policies.</a:t>
            </a:r>
          </a:p>
          <a:p>
            <a:pPr marL="285750" indent="-285750">
              <a:lnSpc>
                <a:spcPct val="150000"/>
              </a:lnSpc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</a:pPr>
            <a:r>
              <a:rPr lang="en-IN" dirty="0">
                <a:solidFill>
                  <a:schemeClr val="bg1"/>
                </a:solidFill>
              </a:rPr>
              <a:t>This makes it difficult for stakeholders to identify growth trends, evaluate sales channel performance &amp; understand demographic impacts on revenue and settlement expectations.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9933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580"/>
    </mc:Choice>
    <mc:Fallback xmlns="">
      <p:transition spd="slow" advTm="305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A3461-5C65-A4C2-7723-23C67898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Project Overview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9F9B-7B2C-CC66-1685-E7AE38F05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Track </a:t>
            </a:r>
            <a:r>
              <a:rPr lang="en-US" sz="2400" b="1" dirty="0">
                <a:solidFill>
                  <a:schemeClr val="bg1"/>
                </a:solidFill>
              </a:rPr>
              <a:t>total customers &amp;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</a:rPr>
              <a:t>total revenue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Monitor </a:t>
            </a:r>
            <a:r>
              <a:rPr lang="en-US" sz="2400" b="1" dirty="0">
                <a:solidFill>
                  <a:schemeClr val="bg1"/>
                </a:solidFill>
              </a:rPr>
              <a:t>daily</a:t>
            </a:r>
            <a:r>
              <a:rPr lang="en-US" sz="2400" dirty="0">
                <a:solidFill>
                  <a:schemeClr val="bg1"/>
                </a:solidFill>
              </a:rPr>
              <a:t> &amp; </a:t>
            </a:r>
            <a:r>
              <a:rPr lang="en-US" sz="2400" b="1" dirty="0">
                <a:solidFill>
                  <a:schemeClr val="bg1"/>
                </a:solidFill>
              </a:rPr>
              <a:t>month-over-month</a:t>
            </a:r>
            <a:r>
              <a:rPr lang="en-US" sz="2400" dirty="0">
                <a:solidFill>
                  <a:schemeClr val="bg1"/>
                </a:solidFill>
              </a:rPr>
              <a:t> growth trends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Analyze performance across </a:t>
            </a:r>
            <a:r>
              <a:rPr lang="en-US" sz="2400" b="1" dirty="0">
                <a:solidFill>
                  <a:schemeClr val="bg1"/>
                </a:solidFill>
              </a:rPr>
              <a:t>cities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sales modes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policies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age groups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Identify high-value customer segments &amp; effective sales channels</a:t>
            </a:r>
          </a:p>
          <a:p>
            <a:pPr marL="285750" indent="-285750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Understand age-group-wise revenue contribution &amp; expected settlement exposure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38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97"/>
    </mc:Choice>
    <mc:Fallback xmlns="">
      <p:transition spd="slow" advTm="2629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7923-7B2E-51A7-FE02-AE32BADC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Dataset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574C7B-4A8E-396A-8EDA-FD5529AF60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5843" y="1825625"/>
            <a:ext cx="6940314" cy="372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7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17"/>
    </mc:Choice>
    <mc:Fallback xmlns="">
      <p:transition spd="slow" advTm="741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EC506-A1BA-0081-C34E-E5A9DECAE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Terms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BA8B80-0B2F-6FE2-800E-99BDC9FD90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3103" y="2258614"/>
            <a:ext cx="1136008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Base Coverage 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The maximum amount the insurance policy covers in case of a claim.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Premium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The amount paid by the customer to keep the insurance policy active.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Claim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A request made by the customer to receive financial coverage for a covered loss.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Settlement Amount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The amount actually paid by the insurer to settle an approved claim.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Settlement Percentage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The percentage of the claim amount that has been settled/paid by the insurer. </a:t>
            </a:r>
          </a:p>
        </p:txBody>
      </p:sp>
    </p:spTree>
    <p:extLst>
      <p:ext uri="{BB962C8B-B14F-4D97-AF65-F5344CB8AC3E}">
        <p14:creationId xmlns:p14="http://schemas.microsoft.com/office/powerpoint/2010/main" val="3710899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855"/>
    </mc:Choice>
    <mc:Fallback xmlns="">
      <p:transition spd="slow" advTm="3385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3184C-FF71-2BA9-9D04-3E77B836E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824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Dashboard View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300383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41"/>
    </mc:Choice>
    <mc:Fallback xmlns="">
      <p:transition spd="slow" advTm="484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FF5D6D-BD74-F3D9-C117-64414E6BA7DE}"/>
              </a:ext>
            </a:extLst>
          </p:cNvPr>
          <p:cNvSpPr txBox="1"/>
          <p:nvPr/>
        </p:nvSpPr>
        <p:spPr>
          <a:xfrm>
            <a:off x="4776246" y="297876"/>
            <a:ext cx="2639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Home Page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05F42B-2EC6-0523-B74B-07D2EDA8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9" y="875111"/>
            <a:ext cx="10150720" cy="568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30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716"/>
    </mc:Choice>
    <mc:Fallback xmlns="">
      <p:transition spd="slow" advTm="1071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506E05-5943-BDEE-A4A1-85A1ED0C1AB3}"/>
              </a:ext>
            </a:extLst>
          </p:cNvPr>
          <p:cNvSpPr txBox="1"/>
          <p:nvPr/>
        </p:nvSpPr>
        <p:spPr>
          <a:xfrm>
            <a:off x="4317474" y="281115"/>
            <a:ext cx="376129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General Overview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85E74E-749D-8C70-8D70-6D4239D2D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92" y="837513"/>
            <a:ext cx="10112616" cy="5654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0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07"/>
    </mc:Choice>
    <mc:Fallback xmlns="">
      <p:transition spd="slow" advTm="2300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5C20D9-3CDC-1EC3-86D8-1A4FB4F6177F}"/>
              </a:ext>
            </a:extLst>
          </p:cNvPr>
          <p:cNvSpPr txBox="1"/>
          <p:nvPr/>
        </p:nvSpPr>
        <p:spPr>
          <a:xfrm>
            <a:off x="3799002" y="284914"/>
            <a:ext cx="4593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Sales Mode Analysis </a:t>
            </a:r>
            <a:endParaRPr lang="en-IN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C513FD-5432-EE44-89C5-C85D70C7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261" y="812567"/>
            <a:ext cx="10135478" cy="567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6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666"/>
    </mc:Choice>
    <mc:Fallback xmlns="">
      <p:transition spd="slow" advTm="1766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1E69D-7CFA-555C-D830-28C6A970B313}"/>
              </a:ext>
            </a:extLst>
          </p:cNvPr>
          <p:cNvSpPr txBox="1"/>
          <p:nvPr/>
        </p:nvSpPr>
        <p:spPr>
          <a:xfrm>
            <a:off x="3744011" y="245098"/>
            <a:ext cx="4703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Age Group Analysis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B16B5-32CA-81D1-A352-69BDE0E1C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691" y="838738"/>
            <a:ext cx="10112616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12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8"/>
    </mc:Choice>
    <mc:Fallback xmlns="">
      <p:transition spd="slow" advTm="1866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5E8-F393-CD19-B048-EE5A0D18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89124" cy="898067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General View - Insights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31CA-C108-7B4F-CD55-C247D728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943" y="1432874"/>
            <a:ext cx="11105561" cy="470638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Overall Performance</a:t>
            </a:r>
            <a:r>
              <a:rPr lang="en-US" sz="2000" dirty="0">
                <a:solidFill>
                  <a:schemeClr val="bg1"/>
                </a:solidFill>
              </a:rPr>
              <a:t>: Total revenue </a:t>
            </a:r>
            <a:r>
              <a:rPr lang="en-US" sz="2000" b="1" dirty="0">
                <a:solidFill>
                  <a:schemeClr val="bg1"/>
                </a:solidFill>
              </a:rPr>
              <a:t>₹989M</a:t>
            </a:r>
            <a:r>
              <a:rPr lang="en-US" sz="2000" dirty="0">
                <a:solidFill>
                  <a:schemeClr val="bg1"/>
                </a:solidFill>
              </a:rPr>
              <a:t> generated from </a:t>
            </a:r>
            <a:r>
              <a:rPr lang="en-US" sz="2000" b="1" dirty="0">
                <a:solidFill>
                  <a:schemeClr val="bg1"/>
                </a:solidFill>
              </a:rPr>
              <a:t>26.8K customers</a:t>
            </a:r>
            <a:r>
              <a:rPr lang="en-US" sz="2000" dirty="0">
                <a:solidFill>
                  <a:schemeClr val="bg1"/>
                </a:solidFill>
              </a:rPr>
              <a:t>, with </a:t>
            </a:r>
            <a:r>
              <a:rPr lang="en-US" sz="2000" b="1" dirty="0">
                <a:solidFill>
                  <a:schemeClr val="bg1"/>
                </a:solidFill>
              </a:rPr>
              <a:t>₹5.47M DRG</a:t>
            </a:r>
            <a:r>
              <a:rPr lang="en-US" sz="2000" dirty="0">
                <a:solidFill>
                  <a:schemeClr val="bg1"/>
                </a:solidFill>
              </a:rPr>
              <a:t> and </a:t>
            </a:r>
            <a:r>
              <a:rPr lang="en-US" sz="2000" b="1" dirty="0">
                <a:solidFill>
                  <a:schemeClr val="bg1"/>
                </a:solidFill>
              </a:rPr>
              <a:t>148.29 DCG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Delhi NCR</a:t>
            </a:r>
            <a:r>
              <a:rPr lang="en-IN" sz="2000" dirty="0">
                <a:solidFill>
                  <a:schemeClr val="bg1"/>
                </a:solidFill>
              </a:rPr>
              <a:t>: Highest revenue ₹</a:t>
            </a:r>
            <a:r>
              <a:rPr lang="en-IN" sz="2000" b="1" dirty="0">
                <a:solidFill>
                  <a:schemeClr val="bg1"/>
                </a:solidFill>
              </a:rPr>
              <a:t>402M</a:t>
            </a:r>
            <a:r>
              <a:rPr lang="en-IN" sz="2000" dirty="0">
                <a:solidFill>
                  <a:schemeClr val="bg1"/>
                </a:solidFill>
              </a:rPr>
              <a:t> | Highest customers </a:t>
            </a:r>
            <a:r>
              <a:rPr lang="en-IN" sz="2000" b="1" dirty="0">
                <a:solidFill>
                  <a:schemeClr val="bg1"/>
                </a:solidFill>
              </a:rPr>
              <a:t>11,007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Indore</a:t>
            </a:r>
            <a:r>
              <a:rPr lang="en-IN" sz="2000" dirty="0">
                <a:solidFill>
                  <a:schemeClr val="bg1"/>
                </a:solidFill>
              </a:rPr>
              <a:t>: Lowest revenue ₹</a:t>
            </a:r>
            <a:r>
              <a:rPr lang="en-IN" sz="2000" b="1" dirty="0">
                <a:solidFill>
                  <a:schemeClr val="bg1"/>
                </a:solidFill>
              </a:rPr>
              <a:t>81M</a:t>
            </a:r>
            <a:r>
              <a:rPr lang="en-IN" sz="2000" dirty="0">
                <a:solidFill>
                  <a:schemeClr val="bg1"/>
                </a:solidFill>
              </a:rPr>
              <a:t> | Lowest customers </a:t>
            </a:r>
            <a:r>
              <a:rPr lang="en-IN" sz="2000" b="1" dirty="0">
                <a:solidFill>
                  <a:schemeClr val="bg1"/>
                </a:solidFill>
              </a:rPr>
              <a:t>2,096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Mumbai</a:t>
            </a:r>
            <a:r>
              <a:rPr lang="en-IN" sz="2000" dirty="0">
                <a:solidFill>
                  <a:schemeClr val="bg1"/>
                </a:solidFill>
              </a:rPr>
              <a:t>: Second-highest revenue ₹</a:t>
            </a:r>
            <a:r>
              <a:rPr lang="en-IN" sz="2000" b="1" dirty="0">
                <a:solidFill>
                  <a:schemeClr val="bg1"/>
                </a:solidFill>
              </a:rPr>
              <a:t>240M</a:t>
            </a:r>
            <a:r>
              <a:rPr lang="en-IN" sz="2000" dirty="0">
                <a:solidFill>
                  <a:schemeClr val="bg1"/>
                </a:solidFill>
              </a:rPr>
              <a:t> | </a:t>
            </a:r>
            <a:r>
              <a:rPr lang="en-IN" sz="2000" b="1" dirty="0">
                <a:solidFill>
                  <a:schemeClr val="bg1"/>
                </a:solidFill>
              </a:rPr>
              <a:t>6,432</a:t>
            </a:r>
            <a:r>
              <a:rPr lang="en-IN" sz="2000" dirty="0">
                <a:solidFill>
                  <a:schemeClr val="bg1"/>
                </a:solidFill>
              </a:rPr>
              <a:t> customers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31–40 Age Group</a:t>
            </a:r>
            <a:r>
              <a:rPr lang="en-IN" sz="2000" dirty="0">
                <a:solidFill>
                  <a:schemeClr val="bg1"/>
                </a:solidFill>
              </a:rPr>
              <a:t>: Highest revenue ₹</a:t>
            </a:r>
            <a:r>
              <a:rPr lang="en-IN" sz="2000" b="1" dirty="0">
                <a:solidFill>
                  <a:schemeClr val="bg1"/>
                </a:solidFill>
              </a:rPr>
              <a:t>309M</a:t>
            </a:r>
            <a:r>
              <a:rPr lang="en-IN" sz="2000" dirty="0">
                <a:solidFill>
                  <a:schemeClr val="bg1"/>
                </a:solidFill>
              </a:rPr>
              <a:t> | Highest customers </a:t>
            </a:r>
            <a:r>
              <a:rPr lang="en-IN" sz="2000" b="1" dirty="0">
                <a:solidFill>
                  <a:schemeClr val="bg1"/>
                </a:solidFill>
              </a:rPr>
              <a:t>10,431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March</a:t>
            </a:r>
            <a:r>
              <a:rPr lang="en-IN" sz="2000" dirty="0">
                <a:solidFill>
                  <a:schemeClr val="bg1"/>
                </a:solidFill>
              </a:rPr>
              <a:t>: Peak month — Revenue ₹</a:t>
            </a:r>
            <a:r>
              <a:rPr lang="en-IN" sz="2000" b="1" dirty="0">
                <a:solidFill>
                  <a:schemeClr val="bg1"/>
                </a:solidFill>
              </a:rPr>
              <a:t>264M</a:t>
            </a:r>
            <a:r>
              <a:rPr lang="en-IN" sz="2000" dirty="0">
                <a:solidFill>
                  <a:schemeClr val="bg1"/>
                </a:solidFill>
              </a:rPr>
              <a:t> | Customers </a:t>
            </a:r>
            <a:r>
              <a:rPr lang="en-IN" sz="2000" b="1" dirty="0">
                <a:solidFill>
                  <a:schemeClr val="bg1"/>
                </a:solidFill>
              </a:rPr>
              <a:t>7,081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November</a:t>
            </a:r>
            <a:r>
              <a:rPr lang="en-IN" sz="2000" dirty="0">
                <a:solidFill>
                  <a:schemeClr val="bg1"/>
                </a:solidFill>
              </a:rPr>
              <a:t>: Weakest month — Revenue ₹</a:t>
            </a:r>
            <a:r>
              <a:rPr lang="en-IN" sz="2000" b="1" dirty="0">
                <a:solidFill>
                  <a:schemeClr val="bg1"/>
                </a:solidFill>
              </a:rPr>
              <a:t>132M</a:t>
            </a:r>
            <a:r>
              <a:rPr lang="en-IN" sz="2000" dirty="0">
                <a:solidFill>
                  <a:schemeClr val="bg1"/>
                </a:solidFill>
              </a:rPr>
              <a:t> | Customers </a:t>
            </a:r>
            <a:r>
              <a:rPr lang="en-IN" sz="2000" b="1" dirty="0">
                <a:solidFill>
                  <a:schemeClr val="bg1"/>
                </a:solidFill>
              </a:rPr>
              <a:t>3,787</a:t>
            </a:r>
            <a:endParaRPr lang="en-IN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1017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59"/>
    </mc:Choice>
    <mc:Fallback xmlns="">
      <p:transition spd="slow" advTm="489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CAF06-C84B-FFAD-AF3F-0611218BD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Sales Mode Analysis - Insights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C1882-B3BB-5314-D9BA-A9B0D06CD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Offline Agent</a:t>
            </a:r>
            <a:r>
              <a:rPr lang="en-US" sz="2000" dirty="0">
                <a:solidFill>
                  <a:schemeClr val="bg1"/>
                </a:solidFill>
              </a:rPr>
              <a:t>: Dominates customers </a:t>
            </a:r>
            <a:r>
              <a:rPr lang="en-US" sz="2000" b="1" dirty="0">
                <a:solidFill>
                  <a:schemeClr val="bg1"/>
                </a:solidFill>
              </a:rPr>
              <a:t>14,873 (55.41%)</a:t>
            </a:r>
            <a:r>
              <a:rPr lang="en-US" sz="2000" dirty="0">
                <a:solidFill>
                  <a:schemeClr val="bg1"/>
                </a:solidFill>
              </a:rPr>
              <a:t> | Revenue ₹</a:t>
            </a:r>
            <a:r>
              <a:rPr lang="en-US" sz="2000" b="1" dirty="0">
                <a:solidFill>
                  <a:schemeClr val="bg1"/>
                </a:solidFill>
              </a:rPr>
              <a:t>551M (55.67%)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Online App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4,302 customers (16.00%)</a:t>
            </a:r>
            <a:r>
              <a:rPr lang="en-US" sz="2000" dirty="0">
                <a:solidFill>
                  <a:schemeClr val="bg1"/>
                </a:solidFill>
              </a:rPr>
              <a:t> | Revenue ₹</a:t>
            </a:r>
            <a:r>
              <a:rPr lang="en-US" sz="2000" b="1" dirty="0">
                <a:solidFill>
                  <a:schemeClr val="bg1"/>
                </a:solidFill>
              </a:rPr>
              <a:t>161M (16.28%)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Offline Direct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4,256 customers (15.9%)</a:t>
            </a:r>
            <a:r>
              <a:rPr lang="en-US" sz="2000" dirty="0">
                <a:solidFill>
                  <a:schemeClr val="bg1"/>
                </a:solidFill>
              </a:rPr>
              <a:t> | Revenue ₹</a:t>
            </a:r>
            <a:r>
              <a:rPr lang="en-US" sz="2000" b="1" dirty="0">
                <a:solidFill>
                  <a:schemeClr val="bg1"/>
                </a:solidFill>
              </a:rPr>
              <a:t>153M (15.47%)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Online Website</a:t>
            </a:r>
            <a:r>
              <a:rPr lang="en-US" sz="2000" dirty="0">
                <a:solidFill>
                  <a:schemeClr val="bg1"/>
                </a:solidFill>
              </a:rPr>
              <a:t>: Lowest customers </a:t>
            </a:r>
            <a:r>
              <a:rPr lang="en-US" sz="2000" b="1" dirty="0">
                <a:solidFill>
                  <a:schemeClr val="bg1"/>
                </a:solidFill>
              </a:rPr>
              <a:t>3,410 (12.70%)</a:t>
            </a:r>
            <a:r>
              <a:rPr lang="en-US" sz="2000" dirty="0">
                <a:solidFill>
                  <a:schemeClr val="bg1"/>
                </a:solidFill>
              </a:rPr>
              <a:t> | Revenue ₹</a:t>
            </a:r>
            <a:r>
              <a:rPr lang="en-US" sz="2000" b="1" dirty="0">
                <a:solidFill>
                  <a:schemeClr val="bg1"/>
                </a:solidFill>
              </a:rPr>
              <a:t>125M (12.64%)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March</a:t>
            </a:r>
            <a:r>
              <a:rPr lang="en-US" sz="2000" dirty="0">
                <a:solidFill>
                  <a:schemeClr val="bg1"/>
                </a:solidFill>
              </a:rPr>
              <a:t>: Peak month across sales modes, with </a:t>
            </a:r>
            <a:r>
              <a:rPr lang="en-US" sz="2000" b="1" dirty="0">
                <a:solidFill>
                  <a:schemeClr val="bg1"/>
                </a:solidFill>
              </a:rPr>
              <a:t>Offline Agent</a:t>
            </a:r>
            <a:r>
              <a:rPr lang="en-US" sz="2000" dirty="0">
                <a:solidFill>
                  <a:schemeClr val="bg1"/>
                </a:solidFill>
              </a:rPr>
              <a:t> reaching </a:t>
            </a:r>
            <a:r>
              <a:rPr lang="en-US" sz="2000" b="1" dirty="0">
                <a:solidFill>
                  <a:schemeClr val="bg1"/>
                </a:solidFill>
              </a:rPr>
              <a:t>3.5K customers</a:t>
            </a:r>
            <a:r>
              <a:rPr lang="en-US" sz="2000" dirty="0">
                <a:solidFill>
                  <a:schemeClr val="bg1"/>
                </a:solidFill>
              </a:rPr>
              <a:t> and ₹</a:t>
            </a:r>
            <a:r>
              <a:rPr lang="en-US" sz="2000" b="1" dirty="0">
                <a:solidFill>
                  <a:schemeClr val="bg1"/>
                </a:solidFill>
              </a:rPr>
              <a:t>134M revenue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November–April Trend</a:t>
            </a:r>
            <a:r>
              <a:rPr lang="en-US" sz="2000" dirty="0">
                <a:solidFill>
                  <a:schemeClr val="bg1"/>
                </a:solidFill>
              </a:rPr>
              <a:t>: All sales modes show their strongest performance in </a:t>
            </a:r>
            <a:r>
              <a:rPr lang="en-US" sz="2000" b="1" dirty="0">
                <a:solidFill>
                  <a:schemeClr val="bg1"/>
                </a:solidFill>
              </a:rPr>
              <a:t>March</a:t>
            </a:r>
            <a:r>
              <a:rPr lang="en-US" sz="2000" dirty="0">
                <a:solidFill>
                  <a:schemeClr val="bg1"/>
                </a:solidFill>
              </a:rPr>
              <a:t>, followed by a decline in </a:t>
            </a:r>
            <a:r>
              <a:rPr lang="en-US" sz="2000" b="1" dirty="0">
                <a:solidFill>
                  <a:schemeClr val="bg1"/>
                </a:solidFill>
              </a:rPr>
              <a:t>April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70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974"/>
    </mc:Choice>
    <mc:Fallback xmlns="">
      <p:transition spd="slow" advTm="2797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235A-BF79-418B-9DDC-611D8F24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 Group Analysis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07AD1-976D-601C-39F7-ADA63982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31–40</a:t>
            </a:r>
            <a:r>
              <a:rPr lang="en-US" sz="2000" dirty="0">
                <a:solidFill>
                  <a:schemeClr val="bg1"/>
                </a:solidFill>
              </a:rPr>
              <a:t>: Highest revenue ₹</a:t>
            </a:r>
            <a:r>
              <a:rPr lang="en-US" sz="2000" b="1" dirty="0">
                <a:solidFill>
                  <a:schemeClr val="bg1"/>
                </a:solidFill>
              </a:rPr>
              <a:t>309.32M</a:t>
            </a:r>
            <a:r>
              <a:rPr lang="en-US" sz="2000" dirty="0">
                <a:solidFill>
                  <a:schemeClr val="bg1"/>
                </a:solidFill>
              </a:rPr>
              <a:t> | Highest customers </a:t>
            </a:r>
            <a:r>
              <a:rPr lang="en-US" sz="2000" b="1" dirty="0">
                <a:solidFill>
                  <a:schemeClr val="bg1"/>
                </a:solidFill>
              </a:rPr>
              <a:t>10,431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41+ Age Groups</a:t>
            </a:r>
            <a:r>
              <a:rPr lang="en-US" sz="2000" dirty="0">
                <a:solidFill>
                  <a:schemeClr val="bg1"/>
                </a:solidFill>
              </a:rPr>
              <a:t>: Strong customer base of </a:t>
            </a:r>
            <a:r>
              <a:rPr lang="en-US" sz="2000" b="1" dirty="0">
                <a:solidFill>
                  <a:schemeClr val="bg1"/>
                </a:solidFill>
              </a:rPr>
              <a:t>11,400</a:t>
            </a:r>
            <a:r>
              <a:rPr lang="en-US" sz="2000" dirty="0">
                <a:solidFill>
                  <a:schemeClr val="bg1"/>
                </a:solidFill>
              </a:rPr>
              <a:t> | Revenue of approximately </a:t>
            </a:r>
            <a:r>
              <a:rPr lang="en-US" sz="2000" b="1" dirty="0">
                <a:solidFill>
                  <a:schemeClr val="bg1"/>
                </a:solidFill>
              </a:rPr>
              <a:t>₹598M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Under 30 (18–24 &amp; 25–30)</a:t>
            </a:r>
            <a:r>
              <a:rPr lang="en-US" sz="2000" dirty="0">
                <a:solidFill>
                  <a:schemeClr val="bg1"/>
                </a:solidFill>
              </a:rPr>
              <a:t>: Lowest revenue — ₹</a:t>
            </a:r>
            <a:r>
              <a:rPr lang="en-US" sz="2000" b="1" dirty="0">
                <a:solidFill>
                  <a:schemeClr val="bg1"/>
                </a:solidFill>
              </a:rPr>
              <a:t>25M</a:t>
            </a:r>
            <a:r>
              <a:rPr lang="en-US" sz="2000" dirty="0">
                <a:solidFill>
                  <a:schemeClr val="bg1"/>
                </a:solidFill>
              </a:rPr>
              <a:t> and ₹</a:t>
            </a:r>
            <a:r>
              <a:rPr lang="en-US" sz="2000" b="1" dirty="0">
                <a:solidFill>
                  <a:schemeClr val="bg1"/>
                </a:solidFill>
              </a:rPr>
              <a:t>57M</a:t>
            </a:r>
            <a:r>
              <a:rPr lang="en-US" sz="2000" dirty="0">
                <a:solidFill>
                  <a:schemeClr val="bg1"/>
                </a:solidFill>
              </a:rPr>
              <a:t> respectively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Settlement %</a:t>
            </a:r>
            <a:r>
              <a:rPr lang="en-US" sz="2000" dirty="0">
                <a:solidFill>
                  <a:schemeClr val="bg1"/>
                </a:solidFill>
              </a:rPr>
              <a:t>: Increases consistently with age — from </a:t>
            </a:r>
            <a:r>
              <a:rPr lang="en-US" sz="2000" b="1" dirty="0">
                <a:solidFill>
                  <a:schemeClr val="bg1"/>
                </a:solidFill>
              </a:rPr>
              <a:t>37.51% (18–24)</a:t>
            </a:r>
            <a:r>
              <a:rPr lang="en-US" sz="2000" dirty="0">
                <a:solidFill>
                  <a:schemeClr val="bg1"/>
                </a:solidFill>
              </a:rPr>
              <a:t> to </a:t>
            </a:r>
            <a:r>
              <a:rPr lang="en-US" sz="2000" b="1" dirty="0">
                <a:solidFill>
                  <a:schemeClr val="bg1"/>
                </a:solidFill>
              </a:rPr>
              <a:t>74.33% (65+)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b="1" dirty="0">
                <a:solidFill>
                  <a:schemeClr val="bg1"/>
                </a:solidFill>
              </a:rPr>
              <a:t>POL2005HEL</a:t>
            </a:r>
            <a:r>
              <a:rPr lang="en-US" sz="2000" dirty="0">
                <a:solidFill>
                  <a:schemeClr val="bg1"/>
                </a:solidFill>
              </a:rPr>
              <a:t>: Highest overall revenue contribution, driven particularly by the </a:t>
            </a:r>
            <a:r>
              <a:rPr lang="en-US" sz="2000" b="1" dirty="0">
                <a:solidFill>
                  <a:schemeClr val="bg1"/>
                </a:solidFill>
              </a:rPr>
              <a:t>65+</a:t>
            </a:r>
            <a:r>
              <a:rPr lang="en-US" sz="2000" dirty="0">
                <a:solidFill>
                  <a:schemeClr val="bg1"/>
                </a:solidFill>
              </a:rPr>
              <a:t> segment with ₹</a:t>
            </a:r>
            <a:r>
              <a:rPr lang="en-US" sz="2000" b="1" dirty="0">
                <a:solidFill>
                  <a:schemeClr val="bg1"/>
                </a:solidFill>
              </a:rPr>
              <a:t>118M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939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23"/>
    </mc:Choice>
    <mc:Fallback xmlns="">
      <p:transition spd="slow" advTm="33623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3E10-A951-C81E-E2CF-EC12C992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E6C5BE-F3A6-E3D4-D288-C66899809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101"/>
            <a:ext cx="10515600" cy="4351338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Prioritize Core Segments:</a:t>
            </a:r>
            <a:r>
              <a:rPr lang="en-US" sz="2200" dirty="0">
                <a:solidFill>
                  <a:schemeClr val="bg1"/>
                </a:solidFill>
              </a:rPr>
              <a:t> Focus on the </a:t>
            </a:r>
            <a:r>
              <a:rPr lang="en-US" sz="2200" b="1" dirty="0">
                <a:solidFill>
                  <a:schemeClr val="bg1"/>
                </a:solidFill>
              </a:rPr>
              <a:t>31–40 and 50+ age groups</a:t>
            </a:r>
            <a:r>
              <a:rPr lang="en-US" sz="2200" dirty="0">
                <a:solidFill>
                  <a:schemeClr val="bg1"/>
                </a:solidFill>
              </a:rPr>
              <a:t> to support revenue, retention, and settlement performance.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Address Underperforming Segments:</a:t>
            </a:r>
            <a:r>
              <a:rPr lang="en-US" sz="2200" dirty="0">
                <a:solidFill>
                  <a:schemeClr val="bg1"/>
                </a:solidFill>
              </a:rPr>
              <a:t> Investigate the </a:t>
            </a:r>
            <a:r>
              <a:rPr lang="en-US" sz="2200" b="1" dirty="0">
                <a:solidFill>
                  <a:schemeClr val="bg1"/>
                </a:solidFill>
              </a:rPr>
              <a:t>under-30 age groups</a:t>
            </a:r>
            <a:r>
              <a:rPr lang="en-US" sz="2200" dirty="0">
                <a:solidFill>
                  <a:schemeClr val="bg1"/>
                </a:solidFill>
              </a:rPr>
              <a:t> and lower-performing cities such as </a:t>
            </a:r>
            <a:r>
              <a:rPr lang="en-US" sz="2200" b="1" dirty="0">
                <a:solidFill>
                  <a:schemeClr val="bg1"/>
                </a:solidFill>
              </a:rPr>
              <a:t>Indore</a:t>
            </a:r>
            <a:r>
              <a:rPr lang="en-US" sz="2200" dirty="0">
                <a:solidFill>
                  <a:schemeClr val="bg1"/>
                </a:solidFill>
              </a:rPr>
              <a:t> for growth opportunities.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Strengthen Digital Adoption:</a:t>
            </a:r>
            <a:r>
              <a:rPr lang="en-US" sz="2200" dirty="0">
                <a:solidFill>
                  <a:schemeClr val="bg1"/>
                </a:solidFill>
              </a:rPr>
              <a:t> Maintain the strong </a:t>
            </a:r>
            <a:r>
              <a:rPr lang="en-US" sz="2200" b="1" dirty="0">
                <a:solidFill>
                  <a:schemeClr val="bg1"/>
                </a:solidFill>
              </a:rPr>
              <a:t>Offline Agent</a:t>
            </a:r>
            <a:r>
              <a:rPr lang="en-US" sz="2200" dirty="0">
                <a:solidFill>
                  <a:schemeClr val="bg1"/>
                </a:solidFill>
              </a:rPr>
              <a:t> channel while improving the </a:t>
            </a:r>
            <a:r>
              <a:rPr lang="en-US" sz="2200" b="1" dirty="0">
                <a:solidFill>
                  <a:schemeClr val="bg1"/>
                </a:solidFill>
              </a:rPr>
              <a:t>Online Website</a:t>
            </a:r>
            <a:r>
              <a:rPr lang="en-US" sz="2200" dirty="0">
                <a:solidFill>
                  <a:schemeClr val="bg1"/>
                </a:solidFill>
              </a:rPr>
              <a:t> experience and adoption.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Optimize Product Portfolio:</a:t>
            </a:r>
            <a:r>
              <a:rPr lang="en-US" sz="2200" dirty="0">
                <a:solidFill>
                  <a:schemeClr val="bg1"/>
                </a:solidFill>
              </a:rPr>
              <a:t> Expand the reach of </a:t>
            </a:r>
            <a:r>
              <a:rPr lang="en-US" sz="2200" b="1" dirty="0">
                <a:solidFill>
                  <a:schemeClr val="bg1"/>
                </a:solidFill>
              </a:rPr>
              <a:t>POL2005HEL</a:t>
            </a:r>
            <a:r>
              <a:rPr lang="en-US" sz="2200" dirty="0">
                <a:solidFill>
                  <a:schemeClr val="bg1"/>
                </a:solidFill>
              </a:rPr>
              <a:t> and evaluate the revenue contribution of policies with high customer volumes but lower revenue.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Replicate City Best Practices:</a:t>
            </a:r>
            <a:r>
              <a:rPr lang="en-US" sz="2200" dirty="0">
                <a:solidFill>
                  <a:schemeClr val="bg1"/>
                </a:solidFill>
              </a:rPr>
              <a:t> Study the </a:t>
            </a:r>
            <a:r>
              <a:rPr lang="en-US" sz="2200" b="1" dirty="0">
                <a:solidFill>
                  <a:schemeClr val="bg1"/>
                </a:solidFill>
              </a:rPr>
              <a:t>Delhi NCR</a:t>
            </a:r>
            <a:r>
              <a:rPr lang="en-US" sz="2200" dirty="0">
                <a:solidFill>
                  <a:schemeClr val="bg1"/>
                </a:solidFill>
              </a:rPr>
              <a:t> sales pattern and identify practices that could be applied to other cities.</a:t>
            </a:r>
          </a:p>
          <a:p>
            <a:r>
              <a:rPr lang="en-US" sz="2200" dirty="0">
                <a:solidFill>
                  <a:schemeClr val="bg1"/>
                </a:solidFill>
              </a:rPr>
              <a:t> </a:t>
            </a:r>
            <a:r>
              <a:rPr lang="en-US" sz="2200" b="1" dirty="0">
                <a:solidFill>
                  <a:schemeClr val="bg1"/>
                </a:solidFill>
              </a:rPr>
              <a:t>Leverage Seasonal Trends:</a:t>
            </a:r>
            <a:r>
              <a:rPr lang="en-US" sz="2200" dirty="0">
                <a:solidFill>
                  <a:schemeClr val="bg1"/>
                </a:solidFill>
              </a:rPr>
              <a:t> Use the strong </a:t>
            </a:r>
            <a:r>
              <a:rPr lang="en-US" sz="2200" b="1" dirty="0">
                <a:solidFill>
                  <a:schemeClr val="bg1"/>
                </a:solidFill>
              </a:rPr>
              <a:t>March</a:t>
            </a:r>
            <a:r>
              <a:rPr lang="en-US" sz="2200" dirty="0">
                <a:solidFill>
                  <a:schemeClr val="bg1"/>
                </a:solidFill>
              </a:rPr>
              <a:t> performance pattern to design campaigns that can improve weaker months such as </a:t>
            </a:r>
            <a:r>
              <a:rPr lang="en-US" sz="2200" b="1" dirty="0">
                <a:solidFill>
                  <a:schemeClr val="bg1"/>
                </a:solidFill>
              </a:rPr>
              <a:t>November</a:t>
            </a:r>
            <a:r>
              <a:rPr lang="en-US" sz="2200" dirty="0">
                <a:solidFill>
                  <a:schemeClr val="bg1"/>
                </a:solidFill>
              </a:rPr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020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55"/>
    </mc:Choice>
    <mc:Fallback xmlns="">
      <p:transition spd="slow" advTm="69855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6,200+ Thank You Team Stock Photos and Royalty-Free Pictures ...">
            <a:extLst>
              <a:ext uri="{FF2B5EF4-FFF2-40B4-BE49-F238E27FC236}">
                <a16:creationId xmlns:a16="http://schemas.microsoft.com/office/drawing/2014/main" id="{71F5840F-1288-5AB7-1421-B20B245019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350" y="1390650"/>
            <a:ext cx="5829300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013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2"/>
    </mc:Choice>
    <mc:Fallback xmlns="">
      <p:transition spd="slow" advTm="6782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417</TotalTime>
  <Words>715</Words>
  <Application>Microsoft Office PowerPoint</Application>
  <PresentationFormat>Widescreen</PresentationFormat>
  <Paragraphs>68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Topics</vt:lpstr>
      <vt:lpstr>About Company</vt:lpstr>
      <vt:lpstr>Problem Statement </vt:lpstr>
      <vt:lpstr>Project Overview</vt:lpstr>
      <vt:lpstr>Dataset Overview</vt:lpstr>
      <vt:lpstr>Key Terms </vt:lpstr>
      <vt:lpstr>Dashboard View</vt:lpstr>
      <vt:lpstr>PowerPoint Presentation</vt:lpstr>
      <vt:lpstr>PowerPoint Presentation</vt:lpstr>
      <vt:lpstr>PowerPoint Presentation</vt:lpstr>
      <vt:lpstr>PowerPoint Presentation</vt:lpstr>
      <vt:lpstr>General View - Insights</vt:lpstr>
      <vt:lpstr>Sales Mode Analysis - Insights</vt:lpstr>
      <vt:lpstr>Age Group Analysis 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sharma</dc:creator>
  <cp:lastModifiedBy>harsha sharma</cp:lastModifiedBy>
  <cp:revision>26</cp:revision>
  <dcterms:created xsi:type="dcterms:W3CDTF">2026-09-18T07:04:14Z</dcterms:created>
  <dcterms:modified xsi:type="dcterms:W3CDTF">2026-09-21T12:02:40Z</dcterms:modified>
</cp:coreProperties>
</file>